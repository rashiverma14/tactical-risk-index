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21040" y="-182880"/>
            <a:ext cx="4069080" cy="7223760"/>
          </a:xfrm>
          <a:prstGeom prst="rect">
            <a:avLst/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96528" y="438912"/>
            <a:ext cx="3063240" cy="580644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15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2194560" cy="283464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3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4924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3DD3FF"/>
                </a:solidFill>
                <a:latin typeface="Aptos"/>
              </a:defRPr>
            </a:pPr>
            <a:r>
              <a:t>S&amp;P GLOBAL × CRISIL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70866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3F7FC"/>
                </a:solidFill>
                <a:latin typeface="Aptos"/>
              </a:defRPr>
            </a:pPr>
            <a:r>
              <a:t>TACTICAL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55648"/>
            <a:ext cx="7086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3DD3FF"/>
                </a:solidFill>
                <a:latin typeface="Aptos"/>
              </a:defRPr>
            </a:pPr>
            <a:r>
              <a:t>RISK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14600"/>
            <a:ext cx="6720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A4B2C9"/>
                </a:solidFill>
                <a:latin typeface="Aptos"/>
              </a:defRPr>
            </a:pPr>
            <a:r>
              <a:t>AI-Powered Financial Risk Signals</a:t>
            </a:r>
            <a:br/>
            <a:r>
              <a:t>for Dynamic Index Rebalancing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749039"/>
            <a:ext cx="6949440" cy="1298448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93192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2C9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20624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3F7FC"/>
                </a:solidFill>
                <a:latin typeface="Aptos"/>
              </a:defRPr>
            </a:pPr>
            <a:r>
              <a:t>RASHI VERMA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39319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2C9"/>
                </a:solidFill>
                <a:latin typeface="Aptos"/>
              </a:defRPr>
            </a:pPr>
            <a:r>
              <a:t>ROLL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42062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DD3FF"/>
                </a:solidFill>
                <a:latin typeface="Aptos"/>
              </a:defRPr>
            </a:pPr>
            <a:r>
              <a:t>23BCE10005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645152"/>
            <a:ext cx="6172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3F7FC"/>
                </a:solidFill>
                <a:latin typeface="Aptos"/>
              </a:defRPr>
            </a:pPr>
            <a:r>
              <a:t>B.Tech • CSE Core • VIT Bhopal University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376672"/>
            <a:ext cx="1828800" cy="283464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08676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C25C"/>
                </a:solidFill>
                <a:latin typeface="Aptos"/>
              </a:defRPr>
            </a:pPr>
            <a:r>
              <a:t>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52160"/>
            <a:ext cx="6903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3F7FC"/>
                </a:solidFill>
                <a:latin typeface="Aptos"/>
              </a:defRPr>
            </a:pPr>
            <a:r>
              <a:t>Turning financial information into explainable portfolio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82296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D3FF"/>
                </a:solidFill>
                <a:latin typeface="Aptos"/>
              </a:defRPr>
            </a:pPr>
            <a:r>
              <a:t>RISK → DECISION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17320"/>
            <a:ext cx="2359152" cy="758952"/>
          </a:xfrm>
          <a:prstGeom prst="roundRect">
            <a:avLst>
              <a:gd name="adj" fmla="val 8000"/>
            </a:avLst>
          </a:prstGeom>
          <a:solidFill>
            <a:srgbClr val="070C16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1536192"/>
            <a:ext cx="960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DD3FF"/>
                </a:solidFill>
                <a:latin typeface="Aptos"/>
              </a:defRPr>
            </a:pPr>
            <a:r>
              <a:t>NEWS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536192"/>
            <a:ext cx="1051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F3F7FC"/>
                </a:solidFill>
                <a:latin typeface="Aptos"/>
              </a:defRPr>
            </a:pPr>
            <a:r>
              <a:t>Unstructured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560320"/>
            <a:ext cx="2359152" cy="758952"/>
          </a:xfrm>
          <a:prstGeom prst="roundRect">
            <a:avLst>
              <a:gd name="adj" fmla="val 8000"/>
            </a:avLst>
          </a:prstGeom>
          <a:solidFill>
            <a:srgbClr val="070C16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2679191"/>
            <a:ext cx="960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C25C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679191"/>
            <a:ext cx="1051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F3F7FC"/>
                </a:solidFill>
                <a:latin typeface="Aptos"/>
              </a:defRPr>
            </a:pPr>
            <a:r>
              <a:t>Structured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3703320"/>
            <a:ext cx="2359152" cy="758952"/>
          </a:xfrm>
          <a:prstGeom prst="roundRect">
            <a:avLst>
              <a:gd name="adj" fmla="val 8000"/>
            </a:avLst>
          </a:prstGeom>
          <a:solidFill>
            <a:srgbClr val="070C16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3822191"/>
            <a:ext cx="960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77A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822191"/>
            <a:ext cx="1051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F3F7FC"/>
                </a:solidFill>
                <a:latin typeface="Aptos"/>
              </a:defRPr>
            </a:pPr>
            <a:r>
              <a:t>Scored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846320"/>
            <a:ext cx="2359152" cy="758952"/>
          </a:xfrm>
          <a:prstGeom prst="roundRect">
            <a:avLst>
              <a:gd name="adj" fmla="val 8000"/>
            </a:avLst>
          </a:prstGeom>
          <a:solidFill>
            <a:srgbClr val="070C16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8592" y="4965192"/>
            <a:ext cx="960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2E09D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965192"/>
            <a:ext cx="1051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F3F7FC"/>
                </a:solidFill>
                <a:latin typeface="Aptos"/>
              </a:defRPr>
            </a:pPr>
            <a:r>
              <a:t>Rebalanced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A4B2C9"/>
                </a:solidFill>
                <a:latin typeface="Aptos"/>
              </a:defRPr>
            </a:pPr>
            <a:r>
              <a:t>TACTICAL RISK INDEX  •  S&amp;P GLOBAL × CRISIL CAMPUS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A4B2C9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D3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C"/>
                </a:solidFill>
                <a:latin typeface="Aptos"/>
              </a:defRPr>
            </a:pPr>
            <a:r>
              <a:t>Why tactical index rebalancing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2C9"/>
                </a:solidFill>
                <a:latin typeface="Aptos"/>
              </a:defRPr>
            </a:pPr>
            <a:r>
              <a:t>The core idea: portfolio weights should respond to meaningful, explainable changes in risk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27048"/>
            <a:ext cx="1024128" cy="41148"/>
          </a:xfrm>
          <a:prstGeom prst="rect">
            <a:avLst/>
          </a:prstGeom>
          <a:solidFill>
            <a:srgbClr val="3DD3FF"/>
          </a:solidFill>
          <a:ln>
            <a:solidFill>
              <a:srgbClr val="3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6629400" cy="3977639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03120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DD3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87168"/>
            <a:ext cx="6080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3F7FC"/>
                </a:solidFill>
                <a:latin typeface="Aptos"/>
              </a:defRPr>
            </a:pPr>
            <a:r>
              <a:t>A tactical index is not a static list of stocks.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82112"/>
            <a:ext cx="5989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4B2C9"/>
                </a:solidFill>
                <a:latin typeface="Aptos"/>
              </a:defRPr>
            </a:pPr>
            <a:r>
              <a:t>Its allocation can be adjusted when new information changes the perceived short-term risk or opportunity of its constituents.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096512"/>
            <a:ext cx="5897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20">
                <a:solidFill>
                  <a:srgbClr val="F3F7FC"/>
                </a:solidFill>
                <a:latin typeface="Aptos"/>
              </a:defRPr>
            </a:pPr>
            <a:r>
              <a:t>●  Market-moving information arrives continuously through news and public sources.</a:t>
            </a:r>
          </a:p>
          <a:p>
            <a:pPr>
              <a:spcAft>
                <a:spcPts val="800"/>
              </a:spcAft>
              <a:defRPr sz="1120">
                <a:solidFill>
                  <a:srgbClr val="F3F7FC"/>
                </a:solidFill>
                <a:latin typeface="Aptos"/>
              </a:defRPr>
            </a:pPr>
            <a:r>
              <a:t>●  The same headline can have different implications depending on the company and event type.</a:t>
            </a:r>
          </a:p>
          <a:p>
            <a:pPr>
              <a:spcAft>
                <a:spcPts val="800"/>
              </a:spcAft>
              <a:defRPr sz="1120">
                <a:solidFill>
                  <a:srgbClr val="F3F7FC"/>
                </a:solidFill>
                <a:latin typeface="Aptos"/>
              </a:defRPr>
            </a:pPr>
            <a:r>
              <a:t>●  Rebalancing converts this information into a controlled change in portfolio weights.</a:t>
            </a:r>
          </a:p>
          <a:p>
            <a:pPr>
              <a:spcAft>
                <a:spcPts val="800"/>
              </a:spcAft>
              <a:defRPr sz="1120">
                <a:solidFill>
                  <a:srgbClr val="F3F7FC"/>
                </a:solidFill>
                <a:latin typeface="Aptos"/>
              </a:defRPr>
            </a:pPr>
            <a:r>
              <a:t>●  The objective is not to replace investment judgment, but to create a repeatable decision-support mechanism.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231" y="1847088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15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210312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2E09D"/>
                </a:solidFill>
                <a:latin typeface="Aptos"/>
              </a:defRPr>
            </a:pPr>
            <a:r>
              <a:t>THE DECISION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57860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DD3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5786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3F7FC"/>
                </a:solidFill>
                <a:latin typeface="Aptos"/>
              </a:defRPr>
            </a:pPr>
            <a:r>
              <a:t>Observe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3291839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C2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291839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3F7FC"/>
                </a:solidFill>
                <a:latin typeface="Aptos"/>
              </a:defRPr>
            </a:pPr>
            <a:r>
              <a:t>Interpret the 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40050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7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0050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3F7FC"/>
                </a:solidFill>
                <a:latin typeface="Aptos"/>
              </a:defRPr>
            </a:pPr>
            <a:r>
              <a:t>Estimate materiality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4718304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2E09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71830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3F7FC"/>
                </a:solidFill>
                <a:latin typeface="Aptos"/>
              </a:defRPr>
            </a:pPr>
            <a:r>
              <a:t>Adjust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A4B2C9"/>
                </a:solidFill>
                <a:latin typeface="Aptos"/>
              </a:defRPr>
            </a:pPr>
            <a:r>
              <a:t>TACTICAL RISK INDEX  •  S&amp;P GLOBAL × CRISIL CAMPUS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A4B2C9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D3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C"/>
                </a:solidFill>
                <a:latin typeface="Aptos"/>
              </a:defRPr>
            </a:pPr>
            <a:r>
              <a:t>How the AI risk signal is constructed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2C9"/>
                </a:solidFill>
                <a:latin typeface="Aptos"/>
              </a:defRPr>
            </a:pPr>
            <a:r>
              <a:t>Natural-language financial information is converted into a structured signal that downstream allocation logic can consume.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27048"/>
            <a:ext cx="1024128" cy="41148"/>
          </a:xfrm>
          <a:prstGeom prst="rect">
            <a:avLst/>
          </a:prstGeom>
          <a:solidFill>
            <a:srgbClr val="3DD3FF"/>
          </a:solidFill>
          <a:ln>
            <a:solidFill>
              <a:srgbClr val="3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0312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DD3FF"/>
                </a:solidFill>
                <a:latin typeface="Aptos"/>
              </a:defRPr>
            </a:pPr>
            <a:r>
              <a:t>SENTIMENT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42032"/>
            <a:ext cx="2926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4B2C9"/>
                </a:solidFill>
                <a:latin typeface="Aptos"/>
              </a:defRPr>
            </a:pPr>
            <a:r>
              <a:t>What is the direction of the information?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18688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C"/>
                </a:solidFill>
                <a:latin typeface="Aptos"/>
              </a:defRPr>
            </a:pPr>
            <a:r>
              <a:t>Positive / Negative / Neutral</a:t>
            </a:r>
            <a:br/>
            <a:r>
              <a:t>Score: −1 to +1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2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C25C"/>
                </a:solidFill>
                <a:latin typeface="Aptos"/>
              </a:defRPr>
            </a:pPr>
            <a:r>
              <a:t>EVENT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542032"/>
            <a:ext cx="2926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4B2C9"/>
                </a:solidFill>
                <a:latin typeface="Aptos"/>
              </a:defRPr>
            </a:pPr>
            <a:r>
              <a:t>What kind of risk or catalyst is present?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218688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C"/>
                </a:solidFill>
                <a:latin typeface="Aptos"/>
              </a:defRPr>
            </a:pPr>
            <a:r>
              <a:t>M&amp;A • Macro • Cyber</a:t>
            </a:r>
            <a:br/>
            <a:r>
              <a:t>Product • Labor • Geopolitical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874519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677A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42032"/>
            <a:ext cx="2926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4B2C9"/>
                </a:solidFill>
                <a:latin typeface="Aptos"/>
              </a:defRPr>
            </a:pPr>
            <a:r>
              <a:t>How material could the event be?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18688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C"/>
                </a:solidFill>
                <a:latin typeface="Aptos"/>
              </a:defRPr>
            </a:pPr>
            <a:r>
              <a:t>Score: 1 to 10</a:t>
            </a:r>
            <a:br/>
            <a:r>
              <a:t>Higher = stronger allocation influence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498848"/>
            <a:ext cx="10927080" cy="123444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15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718304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DD3FF"/>
                </a:solidFill>
                <a:latin typeface="Aptos"/>
              </a:defRPr>
            </a:pPr>
            <a:r>
              <a:t>AFFECTED STOCKS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681728"/>
            <a:ext cx="8366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3F7FC"/>
                </a:solidFill>
                <a:latin typeface="Aptos"/>
              </a:defRPr>
            </a:pPr>
            <a:r>
              <a:t>The model maps company/product references to a controlled ticker universe — e.g. NVIDIA → NVDA, Apple → AAPL, Microsoft/Azure → MSFT.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A4B2C9"/>
                </a:solidFill>
                <a:latin typeface="Aptos"/>
              </a:defRPr>
            </a:pPr>
            <a:r>
              <a:t>TACTICAL RISK INDEX  •  S&amp;P GLOBAL × CRISIL CAMPUS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A4B2C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D3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C"/>
                </a:solidFill>
                <a:latin typeface="Aptos"/>
              </a:defRPr>
            </a:pPr>
            <a:r>
              <a:t>System architecture: from raw information to portfolio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2C9"/>
                </a:solidFill>
                <a:latin typeface="Aptos"/>
              </a:defRPr>
            </a:pPr>
            <a:r>
              <a:t>Each layer has a focused responsibility so ingestion, intelligence and allocation can evolve independently.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27048"/>
            <a:ext cx="1024128" cy="41148"/>
          </a:xfrm>
          <a:prstGeom prst="rect">
            <a:avLst/>
          </a:prstGeom>
          <a:solidFill>
            <a:srgbClr val="3DD3FF"/>
          </a:solidFill>
          <a:ln>
            <a:solidFill>
              <a:srgbClr val="3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2011680" cy="242316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331720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DD3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3F7FC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246120"/>
            <a:ext cx="1691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2C9"/>
                </a:solidFill>
                <a:latin typeface="Aptos"/>
              </a:defRPr>
            </a:pPr>
            <a:r>
              <a:t>NewsAPI</a:t>
            </a:r>
            <a:br/>
            <a:r>
              <a:t>BBC Business RSS</a:t>
            </a:r>
            <a:br/>
            <a:r>
              <a:t>Alpha 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06324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DD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103120"/>
            <a:ext cx="2011680" cy="242316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331720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82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743200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3F7FC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246120"/>
            <a:ext cx="1691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2C9"/>
                </a:solidFill>
                <a:latin typeface="Aptos"/>
              </a:defRPr>
            </a:pPr>
            <a:r>
              <a:t>REST APIs</a:t>
            </a:r>
            <a:br/>
            <a:r>
              <a:t>service orchestration</a:t>
            </a:r>
            <a:br/>
            <a:r>
              <a:t>caching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06324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DD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2103120"/>
            <a:ext cx="2011680" cy="242316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331720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C25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743200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3F7FC"/>
                </a:solidFill>
                <a:latin typeface="Aptos"/>
              </a:defRPr>
            </a:pPr>
            <a:r>
              <a:t>AI RISK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246120"/>
            <a:ext cx="1691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2C9"/>
                </a:solidFill>
                <a:latin typeface="Aptos"/>
              </a:defRPr>
            </a:pPr>
            <a:r>
              <a:t>Groq LLM</a:t>
            </a:r>
            <a:br/>
            <a:r>
              <a:t>sentiment • event •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06324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DD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7223" y="2103120"/>
            <a:ext cx="2011680" cy="242316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1" y="2331720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2E09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743200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3F7FC"/>
                </a:solidFill>
                <a:latin typeface="Aptos"/>
              </a:defRPr>
            </a:pPr>
            <a:r>
              <a:t>REBALANCING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3246120"/>
            <a:ext cx="1691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2C9"/>
                </a:solidFill>
                <a:latin typeface="Aptos"/>
              </a:defRPr>
            </a:pPr>
            <a:r>
              <a:t>signal aggregation</a:t>
            </a:r>
            <a:br/>
            <a:r>
              <a:t>bounds • normalization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306324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DD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0655" y="2103120"/>
            <a:ext cx="2011680" cy="242316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76103" y="2331720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7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6103" y="2743200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3F7F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3" y="3246120"/>
            <a:ext cx="1691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2C9"/>
                </a:solidFill>
                <a:latin typeface="Aptos"/>
              </a:defRPr>
            </a:pPr>
            <a:r>
              <a:t>weights</a:t>
            </a:r>
            <a:br/>
            <a:r>
              <a:t>signals • reasons</a:t>
            </a:r>
            <a:br/>
            <a:r>
              <a:t>market context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92040"/>
            <a:ext cx="10744200" cy="749808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15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093208"/>
            <a:ext cx="10287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3F7FC"/>
                </a:solidFill>
                <a:latin typeface="Aptos"/>
              </a:defRPr>
            </a:pPr>
            <a:r>
              <a:t>DESIGN PRINCIPLE  •  raw text is never sent directly into allocation — it becomes a validated, explainable RiskSignal first.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A4B2C9"/>
                </a:solidFill>
                <a:latin typeface="Aptos"/>
              </a:defRPr>
            </a:pPr>
            <a:r>
              <a:t>TACTICAL RISK INDEX  •  S&amp;P GLOBAL × CRISIL CAMPUS HACKATHON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A4B2C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D3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C"/>
                </a:solidFill>
                <a:latin typeface="Aptos"/>
              </a:defRPr>
            </a:pPr>
            <a:r>
              <a:t>Rebalancing logic: turning risk into a constrained weight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2C9"/>
                </a:solidFill>
                <a:latin typeface="Aptos"/>
              </a:defRPr>
            </a:pPr>
            <a:r>
              <a:t>A transparent rule keeps the prototype explainable while preventing extreme allocations.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27048"/>
            <a:ext cx="1024128" cy="41148"/>
          </a:xfrm>
          <a:prstGeom prst="rect">
            <a:avLst/>
          </a:prstGeom>
          <a:solidFill>
            <a:srgbClr val="3DD3FF"/>
          </a:solidFill>
          <a:ln>
            <a:solidFill>
              <a:srgbClr val="3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10881360" cy="804672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15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A4B2C9"/>
                </a:solidFill>
                <a:latin typeface="Aptos"/>
              </a:rPr>
              <a:t>Weight Adjustment  =  </a:t>
            </a:r>
            <a:r>
              <a:rPr sz="1600" b="1">
                <a:solidFill>
                  <a:srgbClr val="3DD3FF"/>
                </a:solidFill>
                <a:latin typeface="Aptos"/>
              </a:rPr>
              <a:t>Sentiment</a:t>
            </a:r>
            <a:r>
              <a:rPr sz="1600" b="0">
                <a:solidFill>
                  <a:srgbClr val="F3F7FC"/>
                </a:solidFill>
                <a:latin typeface="Aptos"/>
              </a:rPr>
              <a:t> × </a:t>
            </a:r>
            <a:r>
              <a:rPr sz="1600" b="1">
                <a:solidFill>
                  <a:srgbClr val="FFC25C"/>
                </a:solidFill>
                <a:latin typeface="Aptos"/>
              </a:rPr>
              <a:t>Impact Multiplier</a:t>
            </a:r>
            <a:r>
              <a:rPr sz="1600" b="0">
                <a:solidFill>
                  <a:srgbClr val="F3F7FC"/>
                </a:solidFill>
                <a:latin typeface="Aptos"/>
              </a:rPr>
              <a:t> × Rebalancing Factor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6324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31012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D3FF"/>
                </a:solidFill>
                <a:latin typeface="Aptos"/>
              </a:defRPr>
            </a:pPr>
            <a:r>
              <a:t>SIGNAL AGGREGATION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49039"/>
            <a:ext cx="29443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3F7FC"/>
                </a:solidFill>
                <a:latin typeface="Aptos"/>
              </a:defRPr>
            </a:pPr>
            <a:r>
              <a:t>Multiple signals affecting the same stock are combined using sentiment and impact so stronger events carry more influence.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06324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331012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C25C"/>
                </a:solidFill>
                <a:latin typeface="Aptos"/>
              </a:defRPr>
            </a:pPr>
            <a:r>
              <a:t>RISK BOUNDS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749039"/>
            <a:ext cx="29443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3F7FC"/>
                </a:solidFill>
                <a:latin typeface="Aptos"/>
              </a:defRPr>
            </a:pPr>
            <a:r>
              <a:t>Every stock is constrained to a minimum and maximum weight to prevent a single headline from dominating the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306324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31012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2E09D"/>
                </a:solidFill>
                <a:latin typeface="Aptos"/>
              </a:defRPr>
            </a:pPr>
            <a:r>
              <a:t>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49039"/>
            <a:ext cx="29443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3F7FC"/>
                </a:solidFill>
                <a:latin typeface="Aptos"/>
              </a:defRPr>
            </a:pPr>
            <a:r>
              <a:t>After individual adjustments, weights are normalized so the final portfolio remains exactly 100%.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04688"/>
            <a:ext cx="10515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4B2C9"/>
                </a:solidFill>
                <a:latin typeface="Aptos"/>
              </a:defRPr>
            </a:pPr>
            <a:r>
              <a:t>Interpretation: positive, high-impact signals tend to increase exposure; negative, high-impact signals tend to reduce exposure.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A4B2C9"/>
                </a:solidFill>
                <a:latin typeface="Aptos"/>
              </a:defRPr>
            </a:pPr>
            <a:r>
              <a:t>TACTICAL RISK INDEX  •  S&amp;P GLOBAL × CRISIL CAMPUS 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A4B2C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D3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C"/>
                </a:solidFill>
                <a:latin typeface="Aptos"/>
              </a:defRPr>
            </a:pPr>
            <a:r>
              <a:t>What the prototype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2C9"/>
                </a:solidFill>
                <a:latin typeface="Aptos"/>
              </a:defRPr>
            </a:pPr>
            <a:r>
              <a:t>The value is the complete decision chain: information → intelligence → allocation → explanation.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27048"/>
            <a:ext cx="1024128" cy="41148"/>
          </a:xfrm>
          <a:prstGeom prst="rect">
            <a:avLst/>
          </a:prstGeom>
          <a:solidFill>
            <a:srgbClr val="3DD3FF"/>
          </a:solidFill>
          <a:ln>
            <a:solidFill>
              <a:srgbClr val="3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15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292" cy="1188720"/>
          </a:xfrm>
          <a:prstGeom prst="rect">
            <a:avLst/>
          </a:prstGeom>
          <a:solidFill>
            <a:srgbClr val="3DD3FF"/>
          </a:solidFill>
          <a:ln>
            <a:solidFill>
              <a:srgbClr val="3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75104"/>
            <a:ext cx="21671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3F7F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2167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2C9"/>
                </a:solidFill>
                <a:latin typeface="Aptos"/>
              </a:defRPr>
            </a:pPr>
            <a:r>
              <a:t>Stocks in tactical universe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15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50292" cy="1188720"/>
          </a:xfrm>
          <a:prstGeom prst="rect">
            <a:avLst/>
          </a:prstGeom>
          <a:solidFill>
            <a:srgbClr val="42E09D"/>
          </a:solidFill>
          <a:ln>
            <a:solidFill>
              <a:srgbClr val="42E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75104"/>
            <a:ext cx="21671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3F7FC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68880"/>
            <a:ext cx="2167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2C9"/>
                </a:solidFill>
                <a:latin typeface="Aptos"/>
              </a:defRPr>
            </a:pPr>
            <a:r>
              <a:t>Final normalized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15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828800"/>
            <a:ext cx="50292" cy="1188720"/>
          </a:xfrm>
          <a:prstGeom prst="rect">
            <a:avLst/>
          </a:prstGeom>
          <a:solidFill>
            <a:srgbClr val="FFC25C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75104"/>
            <a:ext cx="21671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3F7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2167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2C9"/>
                </a:solidFill>
                <a:latin typeface="Aptos"/>
              </a:defRPr>
            </a:pPr>
            <a:r>
              <a:t>Risk signals in 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8288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15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32520" y="1828800"/>
            <a:ext cx="50292" cy="1188720"/>
          </a:xfrm>
          <a:prstGeom prst="rect">
            <a:avLst/>
          </a:prstGeom>
          <a:solidFill>
            <a:srgbClr val="6982FF"/>
          </a:solidFill>
          <a:ln>
            <a:solidFill>
              <a:srgbClr val="69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975104"/>
            <a:ext cx="21671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3F7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468880"/>
            <a:ext cx="2167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2C9"/>
                </a:solidFill>
                <a:latin typeface="Aptos"/>
              </a:defRPr>
            </a:pPr>
            <a:r>
              <a:t>Public data/API 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64992"/>
            <a:ext cx="6583680" cy="2212848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02736"/>
            <a:ext cx="6080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D3FF"/>
                </a:solidFill>
                <a:latin typeface="Aptos"/>
              </a:defRPr>
            </a:pPr>
            <a:r>
              <a:t>WHY THIS IS USEFUL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005072"/>
            <a:ext cx="58978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20">
                <a:solidFill>
                  <a:srgbClr val="F3F7FC"/>
                </a:solidFill>
                <a:latin typeface="Aptos"/>
              </a:defRPr>
            </a:pPr>
            <a:r>
              <a:t>●  Creates a consistent framework for interpreting financial headlines.</a:t>
            </a:r>
          </a:p>
          <a:p>
            <a:pPr>
              <a:spcAft>
                <a:spcPts val="800"/>
              </a:spcAft>
              <a:defRPr sz="1120">
                <a:solidFill>
                  <a:srgbClr val="F3F7FC"/>
                </a:solidFill>
                <a:latin typeface="Aptos"/>
              </a:defRPr>
            </a:pPr>
            <a:r>
              <a:t>●  Makes the allocation decision traceable to an underlying risk signal.</a:t>
            </a:r>
          </a:p>
          <a:p>
            <a:pPr>
              <a:spcAft>
                <a:spcPts val="800"/>
              </a:spcAft>
              <a:defRPr sz="1120">
                <a:solidFill>
                  <a:srgbClr val="F3F7FC"/>
                </a:solidFill>
                <a:latin typeface="Aptos"/>
              </a:defRPr>
            </a:pPr>
            <a:r>
              <a:t>●  Provides both the new weight and an AI-generated reason.</a:t>
            </a:r>
          </a:p>
          <a:p>
            <a:pPr>
              <a:spcAft>
                <a:spcPts val="800"/>
              </a:spcAft>
              <a:defRPr sz="1120">
                <a:solidFill>
                  <a:srgbClr val="F3F7FC"/>
                </a:solidFill>
                <a:latin typeface="Aptos"/>
              </a:defRPr>
            </a:pPr>
            <a:r>
              <a:t>●  Separates data ingestion, AI interpretation and portfolio logic.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3364992"/>
            <a:ext cx="4023360" cy="2212848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15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3602736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2E09D"/>
                </a:solidFill>
                <a:latin typeface="Aptos"/>
              </a:defRPr>
            </a:pPr>
            <a:r>
              <a:t>EXAMPLE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023360"/>
            <a:ext cx="3337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7FC"/>
                </a:solidFill>
                <a:latin typeface="Aptos"/>
              </a:rPr>
              <a:t>AAPL  </a:t>
            </a:r>
            <a:r>
              <a:rPr sz="1200" b="0">
                <a:solidFill>
                  <a:srgbClr val="A4B2C9"/>
                </a:solidFill>
                <a:latin typeface="Aptos"/>
              </a:rPr>
              <a:t>10.00%</a:t>
            </a:r>
            <a:r>
              <a:rPr sz="1200" b="0">
                <a:solidFill>
                  <a:srgbClr val="F3F7FC"/>
                </a:solidFill>
                <a:latin typeface="Aptos"/>
              </a:rPr>
              <a:t>  →  </a:t>
            </a:r>
            <a:r>
              <a:rPr sz="1700" b="1">
                <a:solidFill>
                  <a:srgbClr val="42E09D"/>
                </a:solidFill>
                <a:latin typeface="Aptos"/>
              </a:rPr>
              <a:t>11.62%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84632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B2C9"/>
                </a:solidFill>
                <a:latin typeface="Aptos"/>
              </a:defRPr>
            </a:pPr>
            <a:r>
              <a:t>Weight movement is bounded and</a:t>
            </a:r>
            <a:br/>
            <a:r>
              <a:t>normalized with the rest of the index.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A4B2C9"/>
                </a:solidFill>
                <a:latin typeface="Aptos"/>
              </a:defRPr>
            </a:pPr>
            <a:r>
              <a:t>TACTICAL RISK INDEX  •  S&amp;P GLOBAL × CRISIL CAMPUS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A4B2C9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D3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C"/>
                </a:solidFill>
                <a:latin typeface="Aptos"/>
              </a:defRPr>
            </a:pPr>
            <a:r>
              <a:t>Limitations, roadmap and the bigger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2C9"/>
                </a:solidFill>
                <a:latin typeface="Aptos"/>
              </a:defRPr>
            </a:pPr>
            <a:r>
              <a:t>The prototype prioritizes clarity and explainability; production scale would require stronger validation and historical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27048"/>
            <a:ext cx="1024128" cy="41148"/>
          </a:xfrm>
          <a:prstGeom prst="rect">
            <a:avLst/>
          </a:prstGeom>
          <a:solidFill>
            <a:srgbClr val="3DD3FF"/>
          </a:solidFill>
          <a:ln>
            <a:solidFill>
              <a:srgbClr val="3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01568" cy="2267712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2140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D3FF"/>
                </a:solidFill>
                <a:latin typeface="Aptos"/>
              </a:defRPr>
            </a:pPr>
            <a:r>
              <a:t>CURRENT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06040"/>
            <a:ext cx="2926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C"/>
                </a:solidFill>
                <a:latin typeface="Aptos"/>
              </a:defRPr>
            </a:pPr>
            <a:r>
              <a:t>10-stock universe</a:t>
            </a:r>
            <a:br/>
            <a:r>
              <a:t>headline-driven signals</a:t>
            </a:r>
            <a:br/>
            <a:r>
              <a:t>external APIs</a:t>
            </a:r>
            <a:br/>
            <a:r>
              <a:t>rule-based allocation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401568" cy="2267712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2140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C25C"/>
                </a:solidFill>
                <a:latin typeface="Aptos"/>
              </a:defRPr>
            </a:pPr>
            <a:r>
              <a:t>NEXT ITERATION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06040"/>
            <a:ext cx="2926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C"/>
                </a:solidFill>
                <a:latin typeface="Aptos"/>
              </a:defRPr>
            </a:pPr>
            <a:r>
              <a:t>Historical backtesting</a:t>
            </a:r>
            <a:br/>
            <a:r>
              <a:t>signal persistence</a:t>
            </a:r>
            <a:br/>
            <a:r>
              <a:t>more data sources</a:t>
            </a:r>
            <a:br/>
            <a:r>
              <a:t>portfolio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874519"/>
            <a:ext cx="3401568" cy="2267712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>
            <a:solidFill>
              <a:srgbClr val="0F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212140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2E09D"/>
                </a:solidFill>
                <a:latin typeface="Aptos"/>
              </a:defRPr>
            </a:pPr>
            <a:r>
              <a:t>PRODUCTION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2606040"/>
            <a:ext cx="2926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C"/>
                </a:solidFill>
                <a:latin typeface="Aptos"/>
              </a:defRPr>
            </a:pPr>
            <a:r>
              <a:t>AWS deployment</a:t>
            </a:r>
            <a:br/>
            <a:r>
              <a:t>observability</a:t>
            </a:r>
            <a:br/>
            <a:r>
              <a:t>scalable event pipeline</a:t>
            </a:r>
            <a:br/>
            <a:r>
              <a:t>stronger financial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10899648" cy="932688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>
            <a:solidFill>
              <a:srgbClr val="15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27448"/>
            <a:ext cx="10469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D3FF"/>
                </a:solidFill>
                <a:latin typeface="Aptos"/>
              </a:defRPr>
            </a:pPr>
            <a:r>
              <a:t>THE CORE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56632"/>
            <a:ext cx="10469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3F7FC"/>
                </a:solidFill>
                <a:latin typeface="Aptos"/>
              </a:defRPr>
            </a:pPr>
            <a:r>
              <a:t>Unstructured financial information  →  structured risk intelligence  →  explainable tactical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3F7FC"/>
                </a:solidFill>
                <a:latin typeface="Aptos"/>
              </a:defRPr>
            </a:pPr>
            <a:r>
              <a:t>RASHI VERMA  •  23BCE10005  •  VIT BHOPAL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A4B2C9"/>
                </a:solidFill>
                <a:latin typeface="Aptos"/>
              </a:defRPr>
            </a:pPr>
            <a:r>
              <a:t>TACTICAL RISK INDEX  •  S&amp;P GLOBAL × CRISIL CAMPUS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A4B2C9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